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3A80">
              <a:alpha val="50000"/>
            </a:srgbClr>
          </a:solidFill>
          <a:ln w="12700">
            <a:solidFill>
              <a:srgbClr val="1E3A80">
                <a:alpha val="5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201168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1440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DEL ESTRÉS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16916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UNIVERSITARIO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2651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para Estudiantes, Docentes y Administrativos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3337560"/>
            <a:ext cx="228600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D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Politécnico Internacional  |  2025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055C7"/>
          </a:solidFill>
          <a:ln w="12700">
            <a:solidFill>
              <a:srgbClr val="2055C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Bienestar Universitario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F6E"/>
          </a:solidFill>
          <a:ln w="12700">
            <a:solidFill>
              <a:srgbClr val="1A2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ESTRÉS?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91440"/>
            <a:ext cx="100584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05840"/>
            <a:ext cx="84124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05840"/>
            <a:ext cx="91440" cy="9601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0515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estrés es la respuesta natural del organismo ante situaciones que percibe como amenazantes o desafiantes. En el contexto universitario, se convierte en uno de los principales factores que afectan el rendimiento, la salud y el bienestar de toda la comunidad académica.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2148840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2148840"/>
            <a:ext cx="2743200" cy="502920"/>
          </a:xfrm>
          <a:prstGeom prst="rect">
            <a:avLst/>
          </a:prstGeom>
          <a:solidFill>
            <a:srgbClr val="2055C7"/>
          </a:solidFill>
          <a:ln w="12700">
            <a:solidFill>
              <a:srgbClr val="2055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148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Físico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269748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Tensión muscular, fatiga, dolores de cabeza, alteraciones del sueño.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46120" y="2148840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2148840"/>
            <a:ext cx="2743200" cy="502920"/>
          </a:xfrm>
          <a:prstGeom prst="rect">
            <a:avLst/>
          </a:prstGeom>
          <a:solidFill>
            <a:srgbClr val="1E7B8C"/>
          </a:solidFill>
          <a:ln w="12700">
            <a:solidFill>
              <a:srgbClr val="1E7B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46120" y="2148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 Emocional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383280" y="269748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Ansiedad, irritabilidad, sensación de agobio y dificultad para concentrarse.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26480" y="2148840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2148840"/>
            <a:ext cx="2743200" cy="5029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0" y="2148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Social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63640" y="269748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Aislamiento, conflictos interpersonales y descuido de relaciones cercanas.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F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055C7"/>
          </a:solidFill>
          <a:ln w="12700">
            <a:solidFill>
              <a:srgbClr val="2055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ESTRÉS EN CIFRAS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91440"/>
            <a:ext cx="100584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05840"/>
            <a:ext cx="1920240" cy="35661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1005840"/>
            <a:ext cx="192024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3716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365760" y="25603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estudiantes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universitarios reportan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sentirse estresados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450592" y="1005840"/>
            <a:ext cx="1920240" cy="35661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50592" y="1005840"/>
            <a:ext cx="1920240" cy="64008"/>
          </a:xfrm>
          <a:prstGeom prst="rect">
            <a:avLst/>
          </a:prstGeom>
          <a:solidFill>
            <a:srgbClr val="1E7B8C"/>
          </a:solidFill>
          <a:ln w="12700">
            <a:solidFill>
              <a:srgbClr val="1E7B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50592" y="13716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2542032" y="25603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docentes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 burnout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 largo de su carrera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626864" y="1005840"/>
            <a:ext cx="1920240" cy="35661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26864" y="1005840"/>
            <a:ext cx="1920240" cy="64008"/>
          </a:xfrm>
          <a:prstGeom prst="rect">
            <a:avLst/>
          </a:prstGeom>
          <a:solidFill>
            <a:srgbClr val="D96B2E"/>
          </a:solidFill>
          <a:ln w="12700">
            <a:solidFill>
              <a:srgbClr val="D96B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26864" y="13716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4800" dirty="0"/>
          </a:p>
        </p:txBody>
      </p:sp>
      <p:sp>
        <p:nvSpPr>
          <p:cNvPr id="16" name="Text 13"/>
          <p:cNvSpPr/>
          <p:nvPr/>
        </p:nvSpPr>
        <p:spPr>
          <a:xfrm>
            <a:off x="4718304" y="25603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personal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administrativo indica alto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estrés laboral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803136" y="1005840"/>
            <a:ext cx="1920240" cy="35661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03136" y="1005840"/>
            <a:ext cx="1920240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03136" y="13716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6894576" y="25603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riesgo 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depresión en personas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estrés crónico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OMS, estudios latinoamericanos de bienestar universitario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055C7"/>
          </a:solidFill>
          <a:ln w="12700">
            <a:solidFill>
              <a:srgbClr val="2055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👨‍🎓  ESTUDIANTES — PRINCIPALES CAUSAS DE ESTRÉS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91440"/>
            <a:ext cx="100584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0584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05840"/>
            <a:ext cx="548640" cy="1143000"/>
          </a:xfrm>
          <a:prstGeom prst="rect">
            <a:avLst/>
          </a:prstGeom>
          <a:solidFill>
            <a:srgbClr val="2055C7"/>
          </a:solidFill>
          <a:ln w="12700">
            <a:solidFill>
              <a:srgbClr val="2055C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234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1078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académica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139903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Exceso de trabajos, parciales y proyectos en cortos períodos de tiempo.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05840"/>
            <a:ext cx="548640" cy="1143000"/>
          </a:xfrm>
          <a:prstGeom prst="rect">
            <a:avLst/>
          </a:prstGeom>
          <a:solidFill>
            <a:srgbClr val="2055C7"/>
          </a:solidFill>
          <a:ln w="12700">
            <a:solidFill>
              <a:srgbClr val="2055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1234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394960" y="1078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económica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94960" y="139903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Dificultades para costear matrículas, materiales y gastos de vida.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228600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286000"/>
            <a:ext cx="548640" cy="1143000"/>
          </a:xfrm>
          <a:prstGeom prst="rect">
            <a:avLst/>
          </a:prstGeom>
          <a:solidFill>
            <a:srgbClr val="2055C7"/>
          </a:solidFill>
          <a:ln w="12700">
            <a:solidFill>
              <a:srgbClr val="2055C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25146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14400" y="23591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tiempo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14400" y="26791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 entre estudio, trabajo y vida personal difícil de mantener.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228600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2286000"/>
            <a:ext cx="548640" cy="1143000"/>
          </a:xfrm>
          <a:prstGeom prst="rect">
            <a:avLst/>
          </a:prstGeom>
          <a:solidFill>
            <a:srgbClr val="2055C7"/>
          </a:solidFill>
          <a:ln w="12700">
            <a:solidFill>
              <a:srgbClr val="2055C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0" y="25146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5394960" y="23591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Miedo al fracaso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394960" y="26791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 ante evaluaciones y temor a decepcionar a la familia.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74320" y="356616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4320" y="3566160"/>
            <a:ext cx="548640" cy="1143000"/>
          </a:xfrm>
          <a:prstGeom prst="rect">
            <a:avLst/>
          </a:prstGeom>
          <a:solidFill>
            <a:srgbClr val="2055C7"/>
          </a:solidFill>
          <a:ln w="12700">
            <a:solidFill>
              <a:srgbClr val="2055C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3794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914400" y="3639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social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14400" y="395935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relaciones, entorno desconocido e integración a la vida universitaria.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754880" y="356616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54880" y="3566160"/>
            <a:ext cx="548640" cy="1143000"/>
          </a:xfrm>
          <a:prstGeom prst="rect">
            <a:avLst/>
          </a:prstGeom>
          <a:solidFill>
            <a:srgbClr val="2055C7"/>
          </a:solidFill>
          <a:ln w="12700">
            <a:solidFill>
              <a:srgbClr val="2055C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54880" y="3794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🔮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5394960" y="3639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Incertidumbre laboral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394960" y="395935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Preocupación por el futuro profesional y el mercado laboral competitivo.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055C7"/>
          </a:solidFill>
          <a:ln w="12700">
            <a:solidFill>
              <a:srgbClr val="2055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👨‍🎓  ESTUDIANTES — ESTRATEGIAS DE MANEJO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91440"/>
            <a:ext cx="100584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60120"/>
            <a:ext cx="8595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60120"/>
            <a:ext cx="548640" cy="731520"/>
          </a:xfrm>
          <a:prstGeom prst="rect">
            <a:avLst/>
          </a:prstGeom>
          <a:solidFill>
            <a:srgbClr val="2055C7"/>
          </a:solidFill>
          <a:ln w="12700">
            <a:solidFill>
              <a:srgbClr val="2055C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9601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y planificación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11880" y="100584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un planner semanal. Divide las tareas grandes en pasos pequeños. Prioriza según fechas de entrega y dificultad.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66160" y="1051560"/>
            <a:ext cx="0" cy="54864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1764792"/>
            <a:ext cx="8595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1764792"/>
            <a:ext cx="548640" cy="731520"/>
          </a:xfrm>
          <a:prstGeom prst="rect">
            <a:avLst/>
          </a:prstGeom>
          <a:solidFill>
            <a:srgbClr val="1E7B8C"/>
          </a:solidFill>
          <a:ln w="12700">
            <a:solidFill>
              <a:srgbClr val="1E7B8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176479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60120" y="1810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relajación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11880" y="1810512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respiración diafragmática, meditación mindfulness o yoga al menos 10 minutos al día para reducir el cortisol.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566160" y="1856232"/>
            <a:ext cx="0" cy="54864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2569464"/>
            <a:ext cx="8595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569464"/>
            <a:ext cx="548640" cy="731520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256946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60120" y="26151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Hábitos saludables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11880" y="2615184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Duerme 7-8 horas, mantén una alimentación balanceada y realiza actividad física al menos 3 veces por semana.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566160" y="2660904"/>
            <a:ext cx="0" cy="54864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4320" y="3374136"/>
            <a:ext cx="8595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74320" y="3374136"/>
            <a:ext cx="548640" cy="7315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337413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60120" y="34198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apoyo social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611880" y="3419856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tus preocupaciones con amigos, compañeros o familiares. El apoyo emocional reduce el impacto del estrés.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566160" y="3465576"/>
            <a:ext cx="0" cy="54864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74320" y="4178808"/>
            <a:ext cx="8595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74320" y="4178808"/>
            <a:ext cx="548640" cy="731520"/>
          </a:xfrm>
          <a:prstGeom prst="rect">
            <a:avLst/>
          </a:prstGeom>
          <a:solidFill>
            <a:srgbClr val="D96B2E"/>
          </a:solidFill>
          <a:ln w="12700">
            <a:solidFill>
              <a:srgbClr val="D96B2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417880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60120" y="42245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ayuda profesional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611880" y="4224528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Acude a los servicios de bienestar universitario del Politécnico Internacional. No estás solo — el apoyo psicológico es válido y necesario.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566160" y="4270248"/>
            <a:ext cx="0" cy="54864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7B8C"/>
          </a:solidFill>
          <a:ln w="12700">
            <a:solidFill>
              <a:srgbClr val="1E7B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👩‍🏫  DOCENTES — PRINCIPALES CAUSAS DE ESTRÉS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91440"/>
            <a:ext cx="100584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60120"/>
            <a:ext cx="53035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05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estresores clave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Alta carga de trabajo: planeación, calificación y atención a estudiantes.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2011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Actualización constante de contenidos y metodologías pedagógicas.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2560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Presión por resultados académicos y evaluaciones institucionales.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3108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Adaptación a nuevas tecnologías y plataformas de aprendizaje virtual.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3657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🤯  Conflictos con estudiantes, padres o directivos que generan tensión.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4206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Inestabilidad laboral y contratos de corto plazo que aumentan la incertidumbre.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52160" y="960120"/>
            <a:ext cx="3017520" cy="1828800"/>
          </a:xfrm>
          <a:prstGeom prst="rect">
            <a:avLst/>
          </a:prstGeom>
          <a:solidFill>
            <a:srgbClr val="1E7B8C"/>
          </a:solidFill>
          <a:ln w="12700">
            <a:solidFill>
              <a:srgbClr val="1E7B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97880" y="1005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BURNOUT DOCENTE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0" y="146304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síndrome de burnout afecta a docentes que experimentan agotamiento emocional prolongado, despersonalización y baja realización profesional.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52160" y="2926080"/>
            <a:ext cx="3017520" cy="1965960"/>
          </a:xfrm>
          <a:prstGeom prst="rect">
            <a:avLst/>
          </a:prstGeom>
          <a:solidFill>
            <a:srgbClr val="E8EE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0" y="29992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 alerta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89320" y="34015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Desmotivación constante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989320" y="37581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Irritabilidad con estudiantes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989320" y="41148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Fatiga crónica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989320" y="44714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Ausentismo frecuente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7B8C"/>
          </a:solidFill>
          <a:ln w="12700">
            <a:solidFill>
              <a:srgbClr val="1E7B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👩‍🏫  DOCENTES — ESTRATEGIAS DE MANEJO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91440"/>
            <a:ext cx="100584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6012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60120"/>
            <a:ext cx="640080" cy="1188720"/>
          </a:xfrm>
          <a:prstGeom prst="rect">
            <a:avLst/>
          </a:prstGeom>
          <a:solidFill>
            <a:srgbClr val="1E7B8C"/>
          </a:solidFill>
          <a:ln w="12700">
            <a:solidFill>
              <a:srgbClr val="1E7B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🗓️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05840" y="10332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eficiente del tiempo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138074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 horarios claros para preparación, clases y corrección. Aprende a delegar y a decir no a compromisos que excedan tu capacidad.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96012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960120"/>
            <a:ext cx="640080" cy="1188720"/>
          </a:xfrm>
          <a:prstGeom prst="rect">
            <a:avLst/>
          </a:prstGeom>
          <a:solidFill>
            <a:srgbClr val="1E7B8C"/>
          </a:solidFill>
          <a:ln w="12700">
            <a:solidFill>
              <a:srgbClr val="1E7B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🧘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486400" y="10332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Autocuidado profesional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0" y="138074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 tiempo para actividades recreativas, ejercicio y descanso. El cuidado propio no es un lujo, es una necesidad profesional.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228600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286000"/>
            <a:ext cx="640080" cy="1188720"/>
          </a:xfrm>
          <a:prstGeom prst="rect">
            <a:avLst/>
          </a:prstGeom>
          <a:solidFill>
            <a:srgbClr val="1E7B8C"/>
          </a:solidFill>
          <a:ln w="12700">
            <a:solidFill>
              <a:srgbClr val="1E7B8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005840" y="23591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apoyo entre colegas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05840" y="270662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Fomenta comunidades de práctica con otros docentes. Compartir experiencias y estrategias pedagógicas reduce el aislamiento profesional.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228600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2286000"/>
            <a:ext cx="640080" cy="1188720"/>
          </a:xfrm>
          <a:prstGeom prst="rect">
            <a:avLst/>
          </a:prstGeom>
          <a:solidFill>
            <a:srgbClr val="1E7B8C"/>
          </a:solidFill>
          <a:ln w="12700">
            <a:solidFill>
              <a:srgbClr val="1E7B8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5486400" y="23591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continua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0" y="270662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 en talleres de inteligencia emocional, manejo del estrés y estrategias pedagógicas innovadoras ofrecidos por la institución.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74320" y="3611880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4320" y="3611880"/>
            <a:ext cx="640080" cy="1188720"/>
          </a:xfrm>
          <a:prstGeom prst="rect">
            <a:avLst/>
          </a:prstGeom>
          <a:solidFill>
            <a:srgbClr val="1E7B8C"/>
          </a:solidFill>
          <a:ln w="12700">
            <a:solidFill>
              <a:srgbClr val="1E7B8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1005840" y="36850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psicológica institucional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05840" y="4032504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 los programas de bienestar del Politécnico Internacional. La salud mental del docente impacta directamente en la calidad educativa.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PERSONAL ADMINISTRATIVO — CAUSAS DE ESTRÉS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91440"/>
            <a:ext cx="100584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601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Sobrecarga de tareas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149047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responsabilidades simultáneas sin suficiente personal de apoyo.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0" y="9601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960120"/>
            <a:ext cx="2743200" cy="457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0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Presión de plazos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37560" y="149047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límite estrictas en procesos de matrícula, informes y auditorías.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26480" y="9601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26480" y="960120"/>
            <a:ext cx="2743200" cy="457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Cambios organizacionales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63640" y="149047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Reestructuraciones, nuevos sistemas y procesos de adaptación constante.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74320" y="288036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880360"/>
            <a:ext cx="2743200" cy="457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2880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Atención al público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11480" y="341071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solicitudes, quejas y conflictos de estudiantes y familias.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200400" y="288036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00400" y="2880360"/>
            <a:ext cx="2743200" cy="457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0" y="2880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Recursos limitados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337560" y="341071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con herramientas obsoletas o insuficientes para las demandas.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126480" y="288036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126480" y="2880360"/>
            <a:ext cx="2743200" cy="457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26480" y="2880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Reconocimiento limitado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263640" y="341071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Sensación de que el esfuerzo administrativo no es valorado adecuadamente.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PERSONAL ADMINISTRATIVO — ESTRATEGIAS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91440"/>
            <a:ext cx="100584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60120"/>
            <a:ext cx="4114800" cy="457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individuales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5087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Prioriza tareas con matrices de urgencia e importancia.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20574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⏸️  Toma pausas activas cada 90 minutos de trabajo continuo.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26060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🧘  Practica técnicas de respiración en momentos de alta presión.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31546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Mantén espacios de trabajo ordenados y ergonómicos.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37033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  Establece límites claros entre tiempo laboral y personal.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42519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Define metas diarias realistas y celebra pequeños logros.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63440" y="960120"/>
            <a:ext cx="42062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960120"/>
            <a:ext cx="4206240" cy="457200"/>
          </a:xfrm>
          <a:prstGeom prst="rect">
            <a:avLst/>
          </a:prstGeom>
          <a:solidFill>
            <a:srgbClr val="1A2F6E"/>
          </a:solidFill>
          <a:ln w="12700">
            <a:solidFill>
              <a:srgbClr val="1A2F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09160" y="960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institucionales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46320" y="15087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Fomentar cultura de comunicación abierta y respetuosa.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846320" y="20574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Implementar programas de reconocimiento del personal.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846320" y="26060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Redistribuir cargas en períodos de alta demanda institucional.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46320" y="31546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Proveer herramientas tecnológicas actualizadas y capacitación.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846320" y="37033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Ofrecer talleres de bienestar y salud mental dentro del horario.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846320" y="42519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Crear espacios de participación en decisiones organizacionales.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F6E"/>
          </a:solidFill>
          <a:ln w="12700">
            <a:solidFill>
              <a:srgbClr val="1A2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PROGRAMA DE BIENESTAR — POLITÉCNICO INTERNACIONAL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91440"/>
            <a:ext cx="100584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0584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05840"/>
            <a:ext cx="1965960" cy="777240"/>
          </a:xfrm>
          <a:prstGeom prst="rect">
            <a:avLst/>
          </a:prstGeom>
          <a:solidFill>
            <a:srgbClr val="2055C7"/>
          </a:solidFill>
          <a:ln w="12700">
            <a:solidFill>
              <a:srgbClr val="2055C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005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65760" y="1828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5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Mental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2286000"/>
            <a:ext cx="1783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psicológica individual y grupal, talleres de mindfulness y manejo de ansiedad.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50592" y="100584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50592" y="1005840"/>
            <a:ext cx="1965960" cy="777240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50592" y="1005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🏃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2542032" y="1828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Física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542032" y="2286000"/>
            <a:ext cx="1783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deportivos, pausas activas y acceso a instalaciones recreativas.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26864" y="1005840"/>
            <a:ext cx="1965960" cy="777240"/>
          </a:xfrm>
          <a:prstGeom prst="rect">
            <a:avLst/>
          </a:prstGeom>
          <a:solidFill>
            <a:srgbClr val="1E7B8C"/>
          </a:solidFill>
          <a:ln w="12700">
            <a:solidFill>
              <a:srgbClr val="1E7B8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26864" y="1005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📖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4718304" y="1828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Integral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718304" y="2286000"/>
            <a:ext cx="1783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 de habilidades blandas, gestión del tiempo y comunicación efectiva.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803136" y="100584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03136" y="1005840"/>
            <a:ext cx="1965960" cy="77724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03136" y="1005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🤝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6894576" y="1828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Social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894576" y="2286000"/>
            <a:ext cx="1783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apoyo entre pares, mentorías y espacios de convivencia saludable.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rgbClr val="1A2F6E"/>
          </a:solidFill>
          <a:ln w="12700">
            <a:solidFill>
              <a:srgbClr val="1A2F6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0040" y="44805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Acude al Departamento de Bienestar Universitario del Politécnico Internacional — ¡Estamos aquí para ti!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F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TÉCNICAS RÁPIDAS ANTI-ESTRÉS — PARA TODOS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45720"/>
            <a:ext cx="1005840" cy="731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05840"/>
            <a:ext cx="1965960" cy="3886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1005840"/>
            <a:ext cx="1965960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0058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Respiración 4-7-8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1737360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1719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Inhala 4 segundos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2377440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7240" y="23591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Retén 7 segundos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11480" y="3017520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7240" y="29992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Exhala 8 segundos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11480" y="3657600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77240" y="36393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 4 veces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450592" y="1005840"/>
            <a:ext cx="1965960" cy="3886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E7B8C">
                <a:alpha val="5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450592" y="1005840"/>
            <a:ext cx="1965960" cy="594360"/>
          </a:xfrm>
          <a:prstGeom prst="rect">
            <a:avLst/>
          </a:prstGeom>
          <a:solidFill>
            <a:srgbClr val="1E7B8C"/>
          </a:solidFill>
          <a:ln w="12700">
            <a:solidFill>
              <a:srgbClr val="1E7B8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450592" y="10058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5-4-3-2-1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587752" y="1737360"/>
            <a:ext cx="274320" cy="274320"/>
          </a:xfrm>
          <a:prstGeom prst="ellipse">
            <a:avLst/>
          </a:prstGeom>
          <a:solidFill>
            <a:srgbClr val="1E7B8C"/>
          </a:solidFill>
          <a:ln w="12700">
            <a:solidFill>
              <a:srgbClr val="1E7B8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587752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953512" y="1719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cosas que ves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587752" y="2377440"/>
            <a:ext cx="274320" cy="274320"/>
          </a:xfrm>
          <a:prstGeom prst="ellipse">
            <a:avLst/>
          </a:prstGeom>
          <a:solidFill>
            <a:srgbClr val="1E7B8C"/>
          </a:solidFill>
          <a:ln w="12700">
            <a:solidFill>
              <a:srgbClr val="1E7B8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587752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953512" y="23591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 puedes tocar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587752" y="3017520"/>
            <a:ext cx="274320" cy="274320"/>
          </a:xfrm>
          <a:prstGeom prst="ellipse">
            <a:avLst/>
          </a:prstGeom>
          <a:solidFill>
            <a:srgbClr val="1E7B8C"/>
          </a:solidFill>
          <a:ln w="12700">
            <a:solidFill>
              <a:srgbClr val="1E7B8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587752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953512" y="29992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 escuchas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2587752" y="3657600"/>
            <a:ext cx="274320" cy="274320"/>
          </a:xfrm>
          <a:prstGeom prst="ellipse">
            <a:avLst/>
          </a:prstGeom>
          <a:solidFill>
            <a:srgbClr val="1E7B8C"/>
          </a:solidFill>
          <a:ln w="12700">
            <a:solidFill>
              <a:srgbClr val="1E7B8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587752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2953512" y="36393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que hueles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587752" y="4297680"/>
            <a:ext cx="274320" cy="274320"/>
          </a:xfrm>
          <a:prstGeom prst="ellipse">
            <a:avLst/>
          </a:prstGeom>
          <a:solidFill>
            <a:srgbClr val="1E7B8C"/>
          </a:solidFill>
          <a:ln w="12700">
            <a:solidFill>
              <a:srgbClr val="1E7B8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587752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2953512" y="4279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que saboreas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626864" y="1005840"/>
            <a:ext cx="1965960" cy="3886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D96B2E">
                <a:alpha val="50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626864" y="1005840"/>
            <a:ext cx="1965960" cy="594360"/>
          </a:xfrm>
          <a:prstGeom prst="rect">
            <a:avLst/>
          </a:prstGeom>
          <a:solidFill>
            <a:srgbClr val="D96B2E"/>
          </a:solidFill>
          <a:ln w="12700">
            <a:solidFill>
              <a:srgbClr val="D96B2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626864" y="10058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los 2 min.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764024" y="1737360"/>
            <a:ext cx="274320" cy="274320"/>
          </a:xfrm>
          <a:prstGeom prst="ellipse">
            <a:avLst/>
          </a:prstGeom>
          <a:solidFill>
            <a:srgbClr val="D96B2E"/>
          </a:solidFill>
          <a:ln w="12700">
            <a:solidFill>
              <a:srgbClr val="D96B2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764024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129784" y="1719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¿Puedes resolverlo?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764024" y="2377440"/>
            <a:ext cx="274320" cy="274320"/>
          </a:xfrm>
          <a:prstGeom prst="ellipse">
            <a:avLst/>
          </a:prstGeom>
          <a:solidFill>
            <a:srgbClr val="D96B2E"/>
          </a:solidFill>
          <a:ln w="12700">
            <a:solidFill>
              <a:srgbClr val="D96B2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764024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5129784" y="23591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toma &lt;2 min → hazlo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4764024" y="3017520"/>
            <a:ext cx="274320" cy="274320"/>
          </a:xfrm>
          <a:prstGeom prst="ellipse">
            <a:avLst/>
          </a:prstGeom>
          <a:solidFill>
            <a:srgbClr val="D96B2E"/>
          </a:solidFill>
          <a:ln w="12700">
            <a:solidFill>
              <a:srgbClr val="D96B2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764024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5129784" y="29992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→ agéndalo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4764024" y="3657600"/>
            <a:ext cx="274320" cy="274320"/>
          </a:xfrm>
          <a:prstGeom prst="ellipse">
            <a:avLst/>
          </a:prstGeom>
          <a:solidFill>
            <a:srgbClr val="D96B2E"/>
          </a:solidFill>
          <a:ln w="12700">
            <a:solidFill>
              <a:srgbClr val="D96B2E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764024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5129784" y="36393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 tu mente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6803136" y="1005840"/>
            <a:ext cx="1965960" cy="3886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6B3FA0">
                <a:alpha val="5000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803136" y="1005840"/>
            <a:ext cx="1965960" cy="5943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803136" y="10058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activa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6940296" y="1737360"/>
            <a:ext cx="274320" cy="27432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940296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7306056" y="1719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Estira cuello/hombros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6940296" y="2377440"/>
            <a:ext cx="274320" cy="27432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940296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7306056" y="23591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 5 minutos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6940296" y="3017520"/>
            <a:ext cx="274320" cy="27432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940296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7306056" y="29992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agua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6940296" y="3657600"/>
            <a:ext cx="274320" cy="27432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6940296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7306056" y="36393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Regresa con energía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F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74320"/>
            <a:ext cx="201168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 CONSTRUIMOS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2697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entorno universitario más saludable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286000" y="3429000"/>
            <a:ext cx="45720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611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D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bienestar de cada persona es responsabilidad de todos."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Politécnico Internacional  |  Bienestar Universitario  | 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Manejo del Estrés Universitario - Politécnico Internacional</dc:title>
  <dc:subject>PptxGenJS Presentation</dc:subject>
  <dc:creator>PptxGenJS</dc:creator>
  <cp:lastModifiedBy>PptxGenJS</cp:lastModifiedBy>
  <cp:revision>1</cp:revision>
  <dcterms:created xsi:type="dcterms:W3CDTF">2026-04-07T17:54:07Z</dcterms:created>
  <dcterms:modified xsi:type="dcterms:W3CDTF">2026-04-07T17:54:07Z</dcterms:modified>
</cp:coreProperties>
</file>